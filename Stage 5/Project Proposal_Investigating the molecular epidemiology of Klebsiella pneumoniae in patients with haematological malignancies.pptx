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906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4023500349a147a7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4023500349a147a7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0a8c2462c6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0a8c2462c6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0a8c2462c6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0a8c2462c6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0a8c2462c6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0a8c2462c6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0a8c2462c6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0a8c2462c6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0" y="791300"/>
            <a:ext cx="8520600" cy="294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b="1"/>
              <a:t>Investigating the Molecular Epidemiology of Carbapenem-Resistant </a:t>
            </a:r>
            <a:r>
              <a:rPr lang="en" sz="2900" b="1" i="1"/>
              <a:t>Klebsiella pneumoniae</a:t>
            </a:r>
            <a:r>
              <a:rPr lang="en" sz="2900" b="1"/>
              <a:t> (CR-KP) in Patients with Acute Myeloid Leukemia (AML)</a:t>
            </a:r>
            <a:endParaRPr sz="2900" b="1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800" b="1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499200" y="3959250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>
                <a:solidFill>
                  <a:schemeClr val="dk1"/>
                </a:solidFill>
              </a:rPr>
              <a:t>Presented by: Akeemat Ayinla</a:t>
            </a:r>
            <a:endParaRPr dirty="0">
              <a:solidFill>
                <a:schemeClr val="dk1"/>
              </a:solidFill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79250" cy="97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03676" y="2907675"/>
            <a:ext cx="2016125" cy="2101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1200" y="73275"/>
            <a:ext cx="5295900" cy="935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2275" y="706325"/>
            <a:ext cx="7715250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9700" y="1296875"/>
            <a:ext cx="1262075" cy="127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9213" y="3120925"/>
            <a:ext cx="1543050" cy="15621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/>
        </p:nvSpPr>
        <p:spPr>
          <a:xfrm>
            <a:off x="1802275" y="1346825"/>
            <a:ext cx="17646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Allou Frederick 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(Bioinformatician &amp; Project Lead)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1895100" y="3219075"/>
            <a:ext cx="19923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D1C1D"/>
                </a:solidFill>
                <a:highlight>
                  <a:schemeClr val="lt1"/>
                </a:highlight>
              </a:rPr>
              <a:t>Ayegbusi Olaitan</a:t>
            </a:r>
            <a:endParaRPr>
              <a:solidFill>
                <a:srgbClr val="1D1C1D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D1C1D"/>
                </a:solidFill>
                <a:highlight>
                  <a:schemeClr val="lt1"/>
                </a:highlight>
              </a:rPr>
              <a:t>(Epidemiologist &amp; Database Researcher)</a:t>
            </a:r>
            <a:endParaRPr>
              <a:solidFill>
                <a:srgbClr val="1D1C1D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pic>
        <p:nvPicPr>
          <p:cNvPr id="68" name="Google Shape;68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545300" y="1296875"/>
            <a:ext cx="1467675" cy="127767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4"/>
          <p:cNvSpPr txBox="1"/>
          <p:nvPr/>
        </p:nvSpPr>
        <p:spPr>
          <a:xfrm>
            <a:off x="7171250" y="1346825"/>
            <a:ext cx="19074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D1C1D"/>
                </a:solidFill>
                <a:highlight>
                  <a:schemeClr val="lt1"/>
                </a:highlight>
              </a:rPr>
              <a:t>Ayinla Akeemat</a:t>
            </a:r>
            <a:endParaRPr>
              <a:solidFill>
                <a:srgbClr val="1D1C1D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D1C1D"/>
                </a:solidFill>
                <a:highlight>
                  <a:schemeClr val="lt1"/>
                </a:highlight>
              </a:rPr>
              <a:t>(Microbiologist &amp; Systematic Reviewer)</a:t>
            </a:r>
            <a:endParaRPr>
              <a:solidFill>
                <a:srgbClr val="1D1C1D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pic>
        <p:nvPicPr>
          <p:cNvPr id="70" name="Google Shape;70;p1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545300" y="3120925"/>
            <a:ext cx="1467675" cy="156210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4"/>
          <p:cNvSpPr txBox="1"/>
          <p:nvPr/>
        </p:nvSpPr>
        <p:spPr>
          <a:xfrm>
            <a:off x="7233050" y="3219075"/>
            <a:ext cx="18456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D1C1D"/>
                </a:solidFill>
                <a:highlight>
                  <a:schemeClr val="lt1"/>
                </a:highlight>
              </a:rPr>
              <a:t>Yetunde M. Alo</a:t>
            </a:r>
            <a:endParaRPr>
              <a:solidFill>
                <a:srgbClr val="1D1C1D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D1C1D"/>
                </a:solidFill>
                <a:highlight>
                  <a:schemeClr val="lt1"/>
                </a:highlight>
              </a:rPr>
              <a:t>(Oncologist &amp; Data Analyst)</a:t>
            </a:r>
            <a:endParaRPr>
              <a:solidFill>
                <a:srgbClr val="1D1C1D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pic>
        <p:nvPicPr>
          <p:cNvPr id="72" name="Google Shape;72;p1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0" y="0"/>
            <a:ext cx="830875" cy="83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>
            <a:spLocks noGrp="1"/>
          </p:cNvSpPr>
          <p:nvPr>
            <p:ph type="title"/>
          </p:nvPr>
        </p:nvSpPr>
        <p:spPr>
          <a:xfrm>
            <a:off x="231350" y="66975"/>
            <a:ext cx="8520600" cy="52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ct val="42672"/>
              <a:buNone/>
            </a:pPr>
            <a:r>
              <a:rPr lang="en" sz="2320"/>
              <a:t>Background</a:t>
            </a:r>
            <a:endParaRPr sz="2320"/>
          </a:p>
        </p:txBody>
      </p:sp>
      <p:sp>
        <p:nvSpPr>
          <p:cNvPr id="78" name="Google Shape;78;p15"/>
          <p:cNvSpPr txBox="1">
            <a:spLocks noGrp="1"/>
          </p:cNvSpPr>
          <p:nvPr>
            <p:ph type="body" idx="1"/>
          </p:nvPr>
        </p:nvSpPr>
        <p:spPr>
          <a:xfrm>
            <a:off x="84900" y="1107825"/>
            <a:ext cx="9059100" cy="365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8932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95"/>
              <a:buChar char="●"/>
            </a:pPr>
            <a:r>
              <a:rPr lang="en" sz="1895">
                <a:solidFill>
                  <a:schemeClr val="dk1"/>
                </a:solidFill>
              </a:rPr>
              <a:t>Carbapenem-resistant </a:t>
            </a:r>
            <a:r>
              <a:rPr lang="en" sz="1895" i="1">
                <a:solidFill>
                  <a:schemeClr val="dk1"/>
                </a:solidFill>
              </a:rPr>
              <a:t>Klebsiella pneumoniae</a:t>
            </a:r>
            <a:r>
              <a:rPr lang="en" sz="1895">
                <a:solidFill>
                  <a:schemeClr val="dk1"/>
                </a:solidFill>
              </a:rPr>
              <a:t> (CR-KP) poses a significant public health threat, especially in immunocompromised populations such as patients with Acute Myeloid Leukemia (AML) (Asai et al., 2018).</a:t>
            </a:r>
            <a:endParaRPr sz="1895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852"/>
              <a:buNone/>
            </a:pPr>
            <a:endParaRPr sz="1895">
              <a:solidFill>
                <a:schemeClr val="dk1"/>
              </a:solidFill>
            </a:endParaRPr>
          </a:p>
          <a:p>
            <a:pPr marL="457200" lvl="0" indent="-348932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95"/>
              <a:buChar char="●"/>
            </a:pPr>
            <a:r>
              <a:rPr lang="en" sz="1895">
                <a:solidFill>
                  <a:schemeClr val="dk1"/>
                </a:solidFill>
              </a:rPr>
              <a:t>There is limited data specific to AMR epidemiology in AML patients.</a:t>
            </a:r>
            <a:endParaRPr sz="1895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852"/>
              <a:buNone/>
            </a:pPr>
            <a:endParaRPr sz="1895">
              <a:solidFill>
                <a:schemeClr val="dk1"/>
              </a:solidFill>
            </a:endParaRPr>
          </a:p>
          <a:p>
            <a:pPr marL="457200" lvl="0" indent="-348932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95"/>
              <a:buChar char="●"/>
            </a:pPr>
            <a:r>
              <a:rPr lang="en" sz="1895">
                <a:solidFill>
                  <a:schemeClr val="dk1"/>
                </a:solidFill>
              </a:rPr>
              <a:t>Understanding the genomic epidemiology of CR-KP in this population can inform treatment strategies and infection control measures.</a:t>
            </a:r>
            <a:endParaRPr sz="1895">
              <a:solidFill>
                <a:schemeClr val="dk1"/>
              </a:solidFill>
            </a:endParaRPr>
          </a:p>
        </p:txBody>
      </p:sp>
      <p:pic>
        <p:nvPicPr>
          <p:cNvPr id="79" name="Google Shape;7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9450" cy="95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>
            <a:spLocks noGrp="1"/>
          </p:cNvSpPr>
          <p:nvPr>
            <p:ph type="title"/>
          </p:nvPr>
        </p:nvSpPr>
        <p:spPr>
          <a:xfrm>
            <a:off x="311700" y="1637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Methods</a:t>
            </a:r>
            <a:endParaRPr/>
          </a:p>
        </p:txBody>
      </p:sp>
      <p:pic>
        <p:nvPicPr>
          <p:cNvPr id="85" name="Google Shape;8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200" y="736450"/>
            <a:ext cx="8204496" cy="4102248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79250" cy="97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>
            <a:spLocks noGrp="1"/>
          </p:cNvSpPr>
          <p:nvPr>
            <p:ph type="title"/>
          </p:nvPr>
        </p:nvSpPr>
        <p:spPr>
          <a:xfrm>
            <a:off x="311700" y="1369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Expected Outcomes</a:t>
            </a:r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body" idx="1"/>
          </p:nvPr>
        </p:nvSpPr>
        <p:spPr>
          <a:xfrm>
            <a:off x="311700" y="1177075"/>
            <a:ext cx="8520600" cy="339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★"/>
            </a:pPr>
            <a:r>
              <a:rPr lang="en">
                <a:solidFill>
                  <a:schemeClr val="dk1"/>
                </a:solidFill>
              </a:rPr>
              <a:t>Determination of the prevalence of CR-KP in AML patients.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★"/>
            </a:pPr>
            <a:r>
              <a:rPr lang="en">
                <a:solidFill>
                  <a:schemeClr val="dk1"/>
                </a:solidFill>
              </a:rPr>
              <a:t>Identification of prevalent resistance mechanisms and clonal lineages of </a:t>
            </a:r>
            <a:r>
              <a:rPr lang="en" i="1">
                <a:solidFill>
                  <a:schemeClr val="dk1"/>
                </a:solidFill>
              </a:rPr>
              <a:t>Klebsiella pneumoniae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★"/>
            </a:pPr>
            <a:r>
              <a:rPr lang="en">
                <a:solidFill>
                  <a:schemeClr val="dk1"/>
                </a:solidFill>
              </a:rPr>
              <a:t>Characterization of the genomic diversity of CR-KP in AML patients.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★"/>
            </a:pPr>
            <a:r>
              <a:rPr lang="en">
                <a:solidFill>
                  <a:schemeClr val="dk1"/>
                </a:solidFill>
              </a:rPr>
              <a:t>Identification of risk factors associated with CR-KP infections. 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93" name="Google Shape;9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79250" cy="87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>
            <a:spLocks noGrp="1"/>
          </p:cNvSpPr>
          <p:nvPr>
            <p:ph type="body" idx="1"/>
          </p:nvPr>
        </p:nvSpPr>
        <p:spPr>
          <a:xfrm>
            <a:off x="929775" y="2913150"/>
            <a:ext cx="6439500" cy="21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5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1428"/>
              <a:buFont typeface="Arial"/>
              <a:buNone/>
            </a:pPr>
            <a:r>
              <a:rPr lang="en" sz="3500">
                <a:solidFill>
                  <a:schemeClr val="dk1"/>
                </a:solidFill>
              </a:rPr>
              <a:t>Thank you for your time. Questions are welcome.</a:t>
            </a:r>
            <a:endParaRPr sz="350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1200"/>
              </a:spcBef>
              <a:spcAft>
                <a:spcPts val="1200"/>
              </a:spcAft>
              <a:buNone/>
            </a:pPr>
            <a:endParaRPr sz="3500">
              <a:solidFill>
                <a:schemeClr val="dk1"/>
              </a:solidFill>
            </a:endParaRPr>
          </a:p>
        </p:txBody>
      </p:sp>
      <p:pic>
        <p:nvPicPr>
          <p:cNvPr id="99" name="Google Shape;9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9900" y="132625"/>
            <a:ext cx="2608348" cy="2608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79250" cy="97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179</Words>
  <Application>Microsoft Office PowerPoint</Application>
  <PresentationFormat>On-screen Show (16:9)</PresentationFormat>
  <Paragraphs>27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Arial</vt:lpstr>
      <vt:lpstr>Simple Light</vt:lpstr>
      <vt:lpstr>Investigating the Molecular Epidemiology of Carbapenem-Resistant Klebsiella pneumoniae (CR-KP) in Patients with Acute Myeloid Leukemia (AML) </vt:lpstr>
      <vt:lpstr>PowerPoint Presentation</vt:lpstr>
      <vt:lpstr>Background</vt:lpstr>
      <vt:lpstr>Methods</vt:lpstr>
      <vt:lpstr>Expected Outcomes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Akeemat Ayinla</cp:lastModifiedBy>
  <cp:revision>1</cp:revision>
  <dcterms:modified xsi:type="dcterms:W3CDTF">2025-01-08T07:36:05Z</dcterms:modified>
</cp:coreProperties>
</file>